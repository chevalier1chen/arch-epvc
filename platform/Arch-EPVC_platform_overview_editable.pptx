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7" r:id="rId6"/>
  </p:sldIdLst>
  <p:sldSz cx="15240000" cy="85725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https://arch-epvc.vercel.app/ (Arch-EPVC interface screenshot; accessed 2026-08-28)</a:t>
            </a:r>
          </a:p>
          <a:p>
            <a:r>
              <a:t>- https://doi.org/10.1016/j.apenergy.2017.07.128 (CityBES platform architecture reference)</a:t>
            </a:r>
          </a:p>
          <a:p>
            <a:r>
              <a:t>- https://doi.org/10.1016/j.enbuild.2021.111566 (MPS multi-source workflow reference)</a:t>
            </a:r>
          </a:p>
          <a:p>
            <a:r>
              <a:t>- https://doi.org/10.1016/j.scs.2021.103534 (UBEM.io web-platform reference)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https://arch-epvc.vercel.app/ (Arch-EPVC interface screenshot; accessed 2026-08-28)</a:t>
            </a:r>
          </a:p>
          <a:p>
            <a:r>
              <a:t>- https://doi.org/10.1016/j.apenergy.2017.07.128 (CityBES platform architecture reference)</a:t>
            </a:r>
          </a:p>
          <a:p>
            <a:r>
              <a:t>- https://doi.org/10.1016/j.enbuild.2021.111566 (MPS multi-source workflow reference)</a:t>
            </a:r>
          </a:p>
          <a:p>
            <a:r>
              <a:t>- https://doi.org/10.1016/j.scs.2021.103534 (UBEM.io web-platform reference)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panel-b"/>
          <p:cNvSpPr>
            <a:spLocks noGrp="1"/>
          </p:cNvSpPr>
          <p:nvPr/>
        </p:nvSpPr>
        <p:spPr>
          <a:xfrm>
            <a:off x="3486150" y="109855"/>
            <a:ext cx="5194935" cy="4091940"/>
          </a:xfrm>
          <a:prstGeom prst="roundRect">
            <a:avLst>
              <a:gd name="adj" fmla="val 1126"/>
            </a:avLst>
          </a:prstGeom>
          <a:solidFill>
            <a:srgbClr val="FFFFFF"/>
          </a:solidFill>
          <a:ln w="19050" cmpd="sng">
            <a:solidFill>
              <a:schemeClr val="accent1">
                <a:shade val="50000"/>
              </a:schemeClr>
            </a:solidFill>
            <a:prstDash val="sysDash"/>
          </a:ln>
        </p:spPr>
      </p:sp>
      <p:sp>
        <p:nvSpPr>
          <p:cNvPr id="56" name="feedback-output"/>
          <p:cNvSpPr>
            <a:spLocks noGrp="1"/>
          </p:cNvSpPr>
          <p:nvPr/>
        </p:nvSpPr>
        <p:spPr>
          <a:xfrm>
            <a:off x="3768090" y="3184525"/>
            <a:ext cx="4711700" cy="861060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 w="13335">
            <a:solidFill>
              <a:srgbClr val="388B82"/>
            </a:solidFill>
            <a:prstDash val="solid"/>
          </a:ln>
        </p:spPr>
      </p:sp>
      <p:sp>
        <p:nvSpPr>
          <p:cNvPr id="14" name="panel-a"/>
          <p:cNvSpPr>
            <a:spLocks noGrp="1"/>
          </p:cNvSpPr>
          <p:nvPr/>
        </p:nvSpPr>
        <p:spPr>
          <a:xfrm>
            <a:off x="266700" y="109855"/>
            <a:ext cx="3028950" cy="4091940"/>
          </a:xfrm>
          <a:prstGeom prst="roundRect">
            <a:avLst>
              <a:gd name="adj" fmla="val 1572"/>
            </a:avLst>
          </a:prstGeom>
          <a:solidFill>
            <a:srgbClr val="FFFFFF"/>
          </a:solidFill>
          <a:ln w="19050" cmpd="sng">
            <a:solidFill>
              <a:schemeClr val="accent1">
                <a:shade val="50000"/>
              </a:schemeClr>
            </a:solidFill>
            <a:prstDash val="sysDash"/>
          </a:ln>
        </p:spPr>
      </p:sp>
      <p:sp>
        <p:nvSpPr>
          <p:cNvPr id="16" name="panel-c"/>
          <p:cNvSpPr>
            <a:spLocks noGrp="1"/>
          </p:cNvSpPr>
          <p:nvPr/>
        </p:nvSpPr>
        <p:spPr>
          <a:xfrm>
            <a:off x="266700" y="4365625"/>
            <a:ext cx="8413750" cy="4091940"/>
          </a:xfrm>
          <a:prstGeom prst="roundRect">
            <a:avLst>
              <a:gd name="adj" fmla="val 1126"/>
            </a:avLst>
          </a:prstGeom>
          <a:solidFill>
            <a:srgbClr val="FFFFFF"/>
          </a:solidFill>
          <a:ln w="19050" cmpd="sng">
            <a:solidFill>
              <a:schemeClr val="accent1">
                <a:shade val="50000"/>
              </a:schemeClr>
            </a:solidFill>
            <a:prstDash val="sysDash"/>
          </a:ln>
        </p:spPr>
      </p:sp>
      <p:sp>
        <p:nvSpPr>
          <p:cNvPr id="19" name="a-title"/>
          <p:cNvSpPr>
            <a:spLocks noGrp="1"/>
          </p:cNvSpPr>
          <p:nvPr/>
        </p:nvSpPr>
        <p:spPr>
          <a:xfrm>
            <a:off x="427990" y="195580"/>
            <a:ext cx="2773045" cy="348615"/>
          </a:xfrm>
          <a:prstGeom prst="rect">
            <a:avLst/>
          </a:prstGeom>
          <a:solidFill>
            <a:srgbClr val="FFFFFF"/>
          </a:solidFill>
          <a:ln w="9525" cmpd="sng">
            <a:noFill/>
            <a:prstDash val="sysDash"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  <a:defRPr sz="1575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I. </a:t>
            </a:r>
            <a:r>
              <a:rPr sz="200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Data and user inputs</a:t>
            </a:r>
            <a:endParaRPr sz="2000"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1" name="b-title"/>
          <p:cNvSpPr>
            <a:spLocks noGrp="1"/>
          </p:cNvSpPr>
          <p:nvPr/>
        </p:nvSpPr>
        <p:spPr>
          <a:xfrm>
            <a:off x="3515995" y="195580"/>
            <a:ext cx="5436870" cy="3486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  <a:defRPr sz="1575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II. </a:t>
            </a: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Dual route prediction</a:t>
            </a:r>
            <a:endParaRPr lang="en-US" sz="2000">
              <a:solidFill>
                <a:schemeClr val="tx2">
                  <a:lumMod val="90000"/>
                  <a:lumOff val="1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  <p:sp>
        <p:nvSpPr>
          <p:cNvPr id="23" name="c-title"/>
          <p:cNvSpPr>
            <a:spLocks noGrp="1"/>
          </p:cNvSpPr>
          <p:nvPr/>
        </p:nvSpPr>
        <p:spPr>
          <a:xfrm>
            <a:off x="819150" y="4365625"/>
            <a:ext cx="5121910" cy="3911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lvl="0" algn="ctr">
              <a:buClrTx/>
              <a:buSzTx/>
              <a:buFontTx/>
              <a:defRPr sz="1575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2000">
                <a:solidFill>
                  <a:schemeClr val="tx2">
                    <a:lumMod val="90000"/>
                    <a:lumOff val="1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III. Web interaction and visualization</a:t>
            </a:r>
            <a:endParaRPr sz="2000">
              <a:sym typeface="+mn-ea"/>
            </a:endParaRPr>
          </a:p>
        </p:txBody>
      </p:sp>
      <p:sp>
        <p:nvSpPr>
          <p:cNvPr id="26" name="existing-input"/>
          <p:cNvSpPr>
            <a:spLocks noGrp="1"/>
          </p:cNvSpPr>
          <p:nvPr/>
        </p:nvSpPr>
        <p:spPr>
          <a:xfrm>
            <a:off x="476250" y="568960"/>
            <a:ext cx="2628900" cy="1536700"/>
          </a:xfrm>
          <a:prstGeom prst="roundRect">
            <a:avLst>
              <a:gd name="adj" fmla="val 4667"/>
            </a:avLst>
          </a:prstGeom>
          <a:solidFill>
            <a:srgbClr val="EAF1F8"/>
          </a:solidFill>
          <a:ln w="14288">
            <a:solidFill>
              <a:srgbClr val="3E6EA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grpSp>
        <p:nvGrpSpPr>
          <p:cNvPr id="59" name="组合 58"/>
          <p:cNvGrpSpPr/>
          <p:nvPr/>
        </p:nvGrpSpPr>
        <p:grpSpPr>
          <a:xfrm>
            <a:off x="581025" y="1123315"/>
            <a:ext cx="589915" cy="400050"/>
            <a:chOff x="1020" y="2775"/>
            <a:chExt cx="929" cy="630"/>
          </a:xfrm>
        </p:grpSpPr>
        <p:sp>
          <p:nvSpPr>
            <p:cNvPr id="27" name="existing-icon-b1"/>
            <p:cNvSpPr>
              <a:spLocks noGrp="1"/>
            </p:cNvSpPr>
            <p:nvPr/>
          </p:nvSpPr>
          <p:spPr>
            <a:xfrm>
              <a:off x="1020" y="2970"/>
              <a:ext cx="255" cy="435"/>
            </a:xfrm>
            <a:prstGeom prst="rect">
              <a:avLst/>
            </a:prstGeom>
            <a:solidFill>
              <a:srgbClr val="3E6EA8"/>
            </a:solidFill>
            <a:ln w="0">
              <a:solidFill>
                <a:srgbClr val="3E6EA8"/>
              </a:solidFill>
              <a:prstDash val="solid"/>
            </a:ln>
          </p:spPr>
        </p:sp>
        <p:sp>
          <p:nvSpPr>
            <p:cNvPr id="28" name="existing-icon-b2"/>
            <p:cNvSpPr>
              <a:spLocks noGrp="1"/>
            </p:cNvSpPr>
            <p:nvPr/>
          </p:nvSpPr>
          <p:spPr>
            <a:xfrm>
              <a:off x="1320" y="2775"/>
              <a:ext cx="360" cy="630"/>
            </a:xfrm>
            <a:prstGeom prst="rect">
              <a:avLst/>
            </a:prstGeom>
            <a:solidFill>
              <a:srgbClr val="3E6EA8"/>
            </a:solidFill>
            <a:ln w="0">
              <a:solidFill>
                <a:srgbClr val="3E6EA8"/>
              </a:solidFill>
              <a:prstDash val="solid"/>
            </a:ln>
          </p:spPr>
        </p:sp>
        <p:sp>
          <p:nvSpPr>
            <p:cNvPr id="29" name="existing-icon-b3"/>
            <p:cNvSpPr>
              <a:spLocks noGrp="1"/>
            </p:cNvSpPr>
            <p:nvPr/>
          </p:nvSpPr>
          <p:spPr>
            <a:xfrm>
              <a:off x="1725" y="3060"/>
              <a:ext cx="225" cy="345"/>
            </a:xfrm>
            <a:prstGeom prst="rect">
              <a:avLst/>
            </a:prstGeom>
            <a:solidFill>
              <a:srgbClr val="3E6EA8"/>
            </a:solidFill>
            <a:ln w="0">
              <a:solidFill>
                <a:srgbClr val="3E6EA8"/>
              </a:solidFill>
              <a:prstDash val="solid"/>
            </a:ln>
          </p:spPr>
        </p:sp>
        <p:sp>
          <p:nvSpPr>
            <p:cNvPr id="30" name="existing-icon-w0"/>
            <p:cNvSpPr>
              <a:spLocks noGrp="1"/>
            </p:cNvSpPr>
            <p:nvPr/>
          </p:nvSpPr>
          <p:spPr>
            <a:xfrm>
              <a:off x="1395" y="2880"/>
              <a:ext cx="75" cy="7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</a:ln>
          </p:spPr>
        </p:sp>
        <p:sp>
          <p:nvSpPr>
            <p:cNvPr id="31" name="existing-icon-wx0"/>
            <p:cNvSpPr>
              <a:spLocks noGrp="1"/>
            </p:cNvSpPr>
            <p:nvPr/>
          </p:nvSpPr>
          <p:spPr>
            <a:xfrm>
              <a:off x="1530" y="2880"/>
              <a:ext cx="75" cy="7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</a:ln>
          </p:spPr>
        </p:sp>
        <p:sp>
          <p:nvSpPr>
            <p:cNvPr id="32" name="existing-icon-w1"/>
            <p:cNvSpPr>
              <a:spLocks noGrp="1"/>
            </p:cNvSpPr>
            <p:nvPr/>
          </p:nvSpPr>
          <p:spPr>
            <a:xfrm>
              <a:off x="1395" y="3030"/>
              <a:ext cx="75" cy="7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</a:ln>
          </p:spPr>
        </p:sp>
        <p:sp>
          <p:nvSpPr>
            <p:cNvPr id="33" name="existing-icon-wx1"/>
            <p:cNvSpPr>
              <a:spLocks noGrp="1"/>
            </p:cNvSpPr>
            <p:nvPr/>
          </p:nvSpPr>
          <p:spPr>
            <a:xfrm>
              <a:off x="1530" y="3030"/>
              <a:ext cx="75" cy="7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</a:ln>
          </p:spPr>
        </p:sp>
        <p:sp>
          <p:nvSpPr>
            <p:cNvPr id="34" name="existing-icon-w2"/>
            <p:cNvSpPr>
              <a:spLocks noGrp="1"/>
            </p:cNvSpPr>
            <p:nvPr/>
          </p:nvSpPr>
          <p:spPr>
            <a:xfrm>
              <a:off x="1395" y="3180"/>
              <a:ext cx="75" cy="7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</a:ln>
          </p:spPr>
        </p:sp>
        <p:sp>
          <p:nvSpPr>
            <p:cNvPr id="35" name="existing-icon-wx2"/>
            <p:cNvSpPr>
              <a:spLocks noGrp="1"/>
            </p:cNvSpPr>
            <p:nvPr/>
          </p:nvSpPr>
          <p:spPr>
            <a:xfrm>
              <a:off x="1530" y="3180"/>
              <a:ext cx="75" cy="75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  <a:prstDash val="solid"/>
            </a:ln>
          </p:spPr>
        </p:sp>
      </p:grpSp>
      <p:sp>
        <p:nvSpPr>
          <p:cNvPr id="36" name="existing-title"/>
          <p:cNvSpPr>
            <a:spLocks noGrp="1"/>
          </p:cNvSpPr>
          <p:nvPr/>
        </p:nvSpPr>
        <p:spPr>
          <a:xfrm>
            <a:off x="895350" y="616585"/>
            <a:ext cx="244919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Existing school</a:t>
            </a:r>
            <a:r>
              <a:rPr lang="en-US" sz="1400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evaluation</a:t>
            </a:r>
            <a:endParaRPr lang="en-US" sz="1400" b="1">
              <a:solidFill>
                <a:srgbClr val="3E6EA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existing-body"/>
          <p:cNvSpPr>
            <a:spLocks noGrp="1"/>
          </p:cNvSpPr>
          <p:nvPr/>
        </p:nvSpPr>
        <p:spPr>
          <a:xfrm>
            <a:off x="1285875" y="1023620"/>
            <a:ext cx="1668145" cy="930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50000"/>
              </a:lnSpc>
              <a:defRPr sz="112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data</a:t>
            </a:r>
            <a:r>
              <a:rPr lang="en-US"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set</a:t>
            </a:r>
            <a:endParaRPr sz="1200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50000"/>
              </a:lnSpc>
              <a:defRPr sz="112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OBJ </a:t>
            </a:r>
            <a:r>
              <a: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Geometry</a:t>
            </a:r>
            <a:endParaRPr sz="1200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50000"/>
              </a:lnSpc>
              <a:defRPr sz="112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Openstreet map</a:t>
            </a:r>
            <a:endParaRPr lang="en-US" sz="1200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50000"/>
              </a:lnSpc>
              <a:defRPr sz="112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Epw weather file</a:t>
            </a:r>
            <a:endParaRPr lang="en-US" sz="1200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new-input"/>
          <p:cNvSpPr>
            <a:spLocks noGrp="1"/>
          </p:cNvSpPr>
          <p:nvPr/>
        </p:nvSpPr>
        <p:spPr>
          <a:xfrm>
            <a:off x="476250" y="2329180"/>
            <a:ext cx="2628900" cy="1724025"/>
          </a:xfrm>
          <a:prstGeom prst="roundRect">
            <a:avLst>
              <a:gd name="adj" fmla="val 3867"/>
            </a:avLst>
          </a:prstGeom>
          <a:solidFill>
            <a:srgbClr val="EAF5ED"/>
          </a:solidFill>
          <a:ln w="14288">
            <a:solidFill>
              <a:srgbClr val="4B9968"/>
            </a:solidFill>
            <a:prstDash val="solid"/>
          </a:ln>
        </p:spPr>
      </p:sp>
      <p:sp>
        <p:nvSpPr>
          <p:cNvPr id="43" name="new-title"/>
          <p:cNvSpPr>
            <a:spLocks noGrp="1"/>
          </p:cNvSpPr>
          <p:nvPr/>
        </p:nvSpPr>
        <p:spPr>
          <a:xfrm>
            <a:off x="1118870" y="2433955"/>
            <a:ext cx="17621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4B99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00" b="1">
                <a:solidFill>
                  <a:srgbClr val="4B99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New school design</a:t>
            </a:r>
            <a:endParaRPr sz="1400" b="1">
              <a:solidFill>
                <a:srgbClr val="4B99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4" name="new-body"/>
          <p:cNvSpPr>
            <a:spLocks noGrp="1"/>
          </p:cNvSpPr>
          <p:nvPr/>
        </p:nvSpPr>
        <p:spPr>
          <a:xfrm>
            <a:off x="1283335" y="2847340"/>
            <a:ext cx="17716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50000"/>
              </a:lnSpc>
              <a:def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OBJ geometry</a:t>
            </a:r>
            <a:endParaRPr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50000"/>
              </a:lnSpc>
              <a:def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Design </a:t>
            </a:r>
            <a:r>
              <a:rPr lang="en-US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factors</a:t>
            </a:r>
            <a:endParaRPr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50000"/>
              </a:lnSpc>
              <a:def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EPW weather file</a:t>
            </a:r>
            <a:endParaRPr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50000"/>
              </a:lnSpc>
              <a:def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User-defined proposal</a:t>
            </a:r>
            <a:endParaRPr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preprocessing"/>
          <p:cNvSpPr>
            <a:spLocks noGrp="1"/>
          </p:cNvSpPr>
          <p:nvPr/>
        </p:nvSpPr>
        <p:spPr>
          <a:xfrm>
            <a:off x="3768090" y="568960"/>
            <a:ext cx="4697095" cy="781050"/>
          </a:xfrm>
          <a:prstGeom prst="roundRect">
            <a:avLst>
              <a:gd name="adj" fmla="val 7317"/>
            </a:avLst>
          </a:prstGeom>
          <a:solidFill>
            <a:srgbClr val="F7F9FA"/>
          </a:solidFill>
          <a:ln w="11430">
            <a:solidFill>
              <a:srgbClr val="C8D1D9"/>
            </a:solidFill>
            <a:prstDash val="solid"/>
          </a:ln>
        </p:spPr>
      </p:sp>
      <p:sp>
        <p:nvSpPr>
          <p:cNvPr id="46" name="pre-title"/>
          <p:cNvSpPr>
            <a:spLocks noGrp="1"/>
          </p:cNvSpPr>
          <p:nvPr/>
        </p:nvSpPr>
        <p:spPr>
          <a:xfrm>
            <a:off x="3939540" y="616585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Automated preprocessing</a:t>
            </a:r>
            <a:endParaRPr sz="1350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7" name="pre-body"/>
          <p:cNvSpPr>
            <a:spLocks noGrp="1"/>
          </p:cNvSpPr>
          <p:nvPr/>
        </p:nvSpPr>
        <p:spPr>
          <a:xfrm>
            <a:off x="3939540" y="892810"/>
            <a:ext cx="462089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672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0">
                <a:solidFill>
                  <a:srgbClr val="6672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Database / map linkage  •  OBJ parsing  •  Windowed LoD1 reconstruction</a:t>
            </a:r>
            <a:endParaRPr sz="1125" b="0">
              <a:solidFill>
                <a:srgbClr val="66727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defRPr sz="1125" b="0">
                <a:solidFill>
                  <a:srgbClr val="6672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0">
                <a:solidFill>
                  <a:srgbClr val="66727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Geometry normalization  •  32³ voxelization</a:t>
            </a:r>
            <a:endParaRPr sz="1125" b="0">
              <a:solidFill>
                <a:srgbClr val="66727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501972" y="1616710"/>
            <a:ext cx="4861366" cy="1842770"/>
            <a:chOff x="5545" y="2693"/>
            <a:chExt cx="8277" cy="2902"/>
          </a:xfrm>
        </p:grpSpPr>
        <p:sp>
          <p:nvSpPr>
            <p:cNvPr id="48" name="route-one"/>
            <p:cNvSpPr>
              <a:spLocks noGrp="1"/>
            </p:cNvSpPr>
            <p:nvPr/>
          </p:nvSpPr>
          <p:spPr>
            <a:xfrm>
              <a:off x="5999" y="2693"/>
              <a:ext cx="3693" cy="2046"/>
            </a:xfrm>
            <a:prstGeom prst="roundRect">
              <a:avLst>
                <a:gd name="adj" fmla="val 4861"/>
              </a:avLst>
            </a:prstGeom>
            <a:solidFill>
              <a:srgbClr val="EAF1F8"/>
            </a:solidFill>
            <a:ln w="14288">
              <a:solidFill>
                <a:srgbClr val="3E6EA8"/>
              </a:solidFill>
              <a:prstDash val="solid"/>
            </a:ln>
          </p:spPr>
        </p:sp>
        <p:sp>
          <p:nvSpPr>
            <p:cNvPr id="49" name="route-one-title"/>
            <p:cNvSpPr>
              <a:spLocks noGrp="1"/>
            </p:cNvSpPr>
            <p:nvPr/>
          </p:nvSpPr>
          <p:spPr>
            <a:xfrm>
              <a:off x="5545" y="2761"/>
              <a:ext cx="4677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500" b="1">
                  <a:solidFill>
                    <a:srgbClr val="3E6EA8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 b="1">
                  <a:solidFill>
                    <a:srgbClr val="3E6EA8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Route I</a:t>
              </a:r>
              <a:r>
                <a:rPr lang="en-US" sz="1200" b="1">
                  <a:solidFill>
                    <a:srgbClr val="3E6EA8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. </a:t>
              </a:r>
              <a:r>
                <a:rPr sz="1200" b="1">
                  <a:solidFill>
                    <a:srgbClr val="3E6EA8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Annual prediction</a:t>
              </a:r>
              <a:endParaRPr sz="1200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0" name="route-one-model"/>
            <p:cNvSpPr>
              <a:spLocks noGrp="1"/>
            </p:cNvSpPr>
            <p:nvPr/>
          </p:nvSpPr>
          <p:spPr>
            <a:xfrm>
              <a:off x="6041" y="3190"/>
              <a:ext cx="3709" cy="1482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lnSpc>
                  <a:spcPct val="150000"/>
                </a:lnSpc>
                <a:defRPr sz="1275" b="0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75" b="0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3D-CNN + MLP + TabTransformer</a:t>
              </a:r>
              <a:endParaRPr sz="127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ctr">
                <a:lnSpc>
                  <a:spcPct val="150000"/>
                </a:lnSpc>
                <a:defRPr sz="1275" b="0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75" b="0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Multimodal feature fusion</a:t>
              </a:r>
              <a:endParaRPr sz="127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1" name="route-one-output"/>
            <p:cNvSpPr>
              <a:spLocks noGrp="1"/>
            </p:cNvSpPr>
            <p:nvPr/>
          </p:nvSpPr>
          <p:spPr>
            <a:xfrm>
              <a:off x="10697" y="5220"/>
              <a:ext cx="3125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275" b="1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75" b="1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EUI</a:t>
              </a:r>
              <a:r>
                <a:rPr lang="zh-CN" sz="1275" b="1">
                  <a:solidFill>
                    <a:srgbClr val="17212B"/>
                  </a:solid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rPr>
                <a:t>，</a:t>
              </a:r>
              <a:r>
                <a:rPr sz="1275" b="1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Epv</a:t>
              </a:r>
              <a:r>
                <a:rPr lang="zh-CN" sz="1275" b="1">
                  <a:solidFill>
                    <a:srgbClr val="17212B"/>
                  </a:solid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rPr>
                <a:t>，</a:t>
              </a:r>
              <a:r>
                <a:rPr sz="1275" b="1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CEI</a:t>
              </a:r>
              <a:endParaRPr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320790" y="1616710"/>
            <a:ext cx="2274592" cy="2080895"/>
            <a:chOff x="10305" y="2693"/>
            <a:chExt cx="4076" cy="3277"/>
          </a:xfrm>
        </p:grpSpPr>
        <p:sp>
          <p:nvSpPr>
            <p:cNvPr id="52" name="route-two"/>
            <p:cNvSpPr>
              <a:spLocks noGrp="1"/>
            </p:cNvSpPr>
            <p:nvPr/>
          </p:nvSpPr>
          <p:spPr>
            <a:xfrm>
              <a:off x="10305" y="2693"/>
              <a:ext cx="3870" cy="2046"/>
            </a:xfrm>
            <a:prstGeom prst="roundRect">
              <a:avLst>
                <a:gd name="adj" fmla="val 4861"/>
              </a:avLst>
            </a:prstGeom>
            <a:solidFill>
              <a:srgbClr val="EAF5ED"/>
            </a:solidFill>
            <a:ln w="14288">
              <a:solidFill>
                <a:srgbClr val="4B9968"/>
              </a:solidFill>
              <a:prstDash val="solid"/>
            </a:ln>
          </p:spPr>
        </p:sp>
        <p:sp>
          <p:nvSpPr>
            <p:cNvPr id="53" name="route-two-title"/>
            <p:cNvSpPr>
              <a:spLocks noGrp="1"/>
            </p:cNvSpPr>
            <p:nvPr/>
          </p:nvSpPr>
          <p:spPr>
            <a:xfrm>
              <a:off x="10306" y="2761"/>
              <a:ext cx="3659" cy="45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>
              <a:noAutofit/>
            </a:bodyPr>
            <a:lstStyle/>
            <a:p>
              <a:pPr lvl="0" algn="ctr">
                <a:buClrTx/>
                <a:buSzTx/>
                <a:buFontTx/>
                <a:defRPr sz="1500" b="1">
                  <a:solidFill>
                    <a:srgbClr val="3E6EA8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00">
                  <a:solidFill>
                    <a:schemeClr val="accent6">
                      <a:lumMod val="75000"/>
                    </a:schemeClr>
                  </a:solidFill>
                  <a:sym typeface="+mn-ea"/>
                </a:rPr>
                <a:t>Route II </a:t>
              </a:r>
              <a:r>
                <a:rPr lang="en-US" sz="1200">
                  <a:solidFill>
                    <a:schemeClr val="accent6">
                      <a:lumMod val="75000"/>
                    </a:schemeClr>
                  </a:solidFill>
                  <a:sym typeface="+mn-ea"/>
                </a:rPr>
                <a:t>. </a:t>
              </a:r>
              <a:r>
                <a:rPr sz="1200">
                  <a:solidFill>
                    <a:schemeClr val="accent6">
                      <a:lumMod val="75000"/>
                    </a:schemeClr>
                  </a:solidFill>
                  <a:sym typeface="+mn-ea"/>
                </a:rPr>
                <a:t>Hourly prediction</a:t>
              </a:r>
              <a:endParaRPr sz="1200">
                <a:solidFill>
                  <a:schemeClr val="accent6">
                    <a:lumMod val="75000"/>
                  </a:schemeClr>
                </a:solidFill>
                <a:sym typeface="+mn-ea"/>
              </a:endParaRPr>
            </a:p>
          </p:txBody>
        </p:sp>
        <p:sp>
          <p:nvSpPr>
            <p:cNvPr id="54" name="route-two-model"/>
            <p:cNvSpPr>
              <a:spLocks noGrp="1"/>
            </p:cNvSpPr>
            <p:nvPr/>
          </p:nvSpPr>
          <p:spPr>
            <a:xfrm>
              <a:off x="10545" y="3217"/>
              <a:ext cx="3450" cy="1387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lnSpc>
                  <a:spcPct val="150000"/>
                </a:lnSpc>
                <a:defRPr sz="1275" b="0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75" b="0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Static features + hourly weather</a:t>
              </a:r>
              <a:endParaRPr sz="127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ctr">
                <a:lnSpc>
                  <a:spcPct val="150000"/>
                </a:lnSpc>
                <a:defRPr sz="1275" b="0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75" b="0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Two-layer LSTM</a:t>
              </a:r>
              <a:endParaRPr sz="127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55" name="route-two-output"/>
            <p:cNvSpPr>
              <a:spLocks noGrp="1"/>
            </p:cNvSpPr>
            <p:nvPr/>
          </p:nvSpPr>
          <p:spPr>
            <a:xfrm>
              <a:off x="10931" y="5595"/>
              <a:ext cx="3450" cy="375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anchor="ctr"/>
            <a:lstStyle/>
            <a:p>
              <a:pPr algn="ctr">
                <a:defRPr sz="1275" b="1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defRPr>
              </a:pPr>
              <a:r>
                <a:rPr sz="1275" b="1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Energy</a:t>
              </a:r>
              <a:r>
                <a:rPr lang="zh-CN" sz="1275" b="1">
                  <a:solidFill>
                    <a:srgbClr val="17212B"/>
                  </a:solid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rPr>
                <a:t>，</a:t>
              </a:r>
              <a:r>
                <a:rPr sz="1275" b="1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PV</a:t>
              </a:r>
              <a:r>
                <a:rPr lang="zh-CN" sz="1275" b="1">
                  <a:solidFill>
                    <a:srgbClr val="17212B"/>
                  </a:solid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rPr>
                <a:t>，</a:t>
              </a:r>
              <a:r>
                <a:rPr sz="1275" b="1">
                  <a:solidFill>
                    <a:srgbClr val="17212B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Carbon</a:t>
              </a:r>
              <a:endParaRPr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7" name="output-title"/>
          <p:cNvSpPr>
            <a:spLocks noGrp="1"/>
          </p:cNvSpPr>
          <p:nvPr/>
        </p:nvSpPr>
        <p:spPr>
          <a:xfrm>
            <a:off x="3768090" y="3459480"/>
            <a:ext cx="18891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00000"/>
              </a:lnSpc>
              <a:defRPr sz="1350" b="1">
                <a:solidFill>
                  <a:srgbClr val="388B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388B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Performance </a:t>
            </a:r>
            <a:endParaRPr sz="1350" b="1">
              <a:solidFill>
                <a:srgbClr val="388B8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defRPr sz="1350" b="1">
                <a:solidFill>
                  <a:srgbClr val="388B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388B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feedback</a:t>
            </a:r>
            <a:endParaRPr sz="1350" b="1">
              <a:solidFill>
                <a:srgbClr val="388B8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8" name="output-body"/>
          <p:cNvSpPr>
            <a:spLocks noGrp="1"/>
          </p:cNvSpPr>
          <p:nvPr/>
        </p:nvSpPr>
        <p:spPr>
          <a:xfrm>
            <a:off x="5353050" y="3249930"/>
            <a:ext cx="3009900" cy="6407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50000"/>
              </a:lnSpc>
              <a:defRPr sz="112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>
                <a:sym typeface="+mn-ea"/>
              </a:rPr>
              <a:t>•  </a:t>
            </a:r>
            <a:r>
              <a:rPr sz="112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Annual indicators </a:t>
            </a:r>
            <a:endParaRPr sz="1125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50000"/>
              </a:lnSpc>
              <a:defRPr sz="112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>
                <a:sym typeface="+mn-ea"/>
              </a:rPr>
              <a:t>•  </a:t>
            </a:r>
            <a:r>
              <a:rPr sz="112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8,760-hour profiles  </a:t>
            </a:r>
            <a:endParaRPr sz="1125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ct val="150000"/>
              </a:lnSpc>
              <a:defRPr sz="112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125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•  3D model</a:t>
            </a:r>
            <a:endParaRPr sz="1125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9" name="a-to-b-1"/>
          <p:cNvSpPr>
            <a:spLocks noGrp="1"/>
          </p:cNvSpPr>
          <p:nvPr/>
        </p:nvSpPr>
        <p:spPr>
          <a:xfrm>
            <a:off x="3133725" y="1329055"/>
            <a:ext cx="351790" cy="123825"/>
          </a:xfrm>
          <a:prstGeom prst="rightArrow">
            <a:avLst/>
          </a:prstGeom>
          <a:solidFill>
            <a:srgbClr val="6F90BA"/>
          </a:solidFill>
          <a:ln w="4763">
            <a:solidFill>
              <a:srgbClr val="6F90BA"/>
            </a:solidFill>
            <a:prstDash val="solid"/>
          </a:ln>
        </p:spPr>
      </p:sp>
      <p:sp>
        <p:nvSpPr>
          <p:cNvPr id="2" name="a-to-b-2"/>
          <p:cNvSpPr>
            <a:spLocks noGrp="1"/>
          </p:cNvSpPr>
          <p:nvPr/>
        </p:nvSpPr>
        <p:spPr>
          <a:xfrm>
            <a:off x="3133725" y="3154045"/>
            <a:ext cx="351790" cy="123825"/>
          </a:xfrm>
          <a:prstGeom prst="rightArrow">
            <a:avLst/>
          </a:prstGeom>
          <a:solidFill>
            <a:srgbClr val="75AF87"/>
          </a:solidFill>
          <a:ln w="4763">
            <a:solidFill>
              <a:srgbClr val="75AF87"/>
            </a:solidFill>
            <a:prstDash val="solid"/>
          </a:ln>
        </p:spPr>
      </p:sp>
      <p:sp>
        <p:nvSpPr>
          <p:cNvPr id="102" name="下箭头 101"/>
          <p:cNvSpPr/>
          <p:nvPr/>
        </p:nvSpPr>
        <p:spPr>
          <a:xfrm>
            <a:off x="4784090" y="1359535"/>
            <a:ext cx="196215" cy="257810"/>
          </a:xfrm>
          <a:prstGeom prst="downArrow">
            <a:avLst/>
          </a:prstGeom>
          <a:solidFill>
            <a:schemeClr val="tx1">
              <a:alpha val="2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3" name="下箭头 102"/>
          <p:cNvSpPr/>
          <p:nvPr/>
        </p:nvSpPr>
        <p:spPr>
          <a:xfrm>
            <a:off x="7302500" y="1359535"/>
            <a:ext cx="196215" cy="257810"/>
          </a:xfrm>
          <a:prstGeom prst="downArrow">
            <a:avLst/>
          </a:prstGeom>
          <a:solidFill>
            <a:schemeClr val="tx1">
              <a:alpha val="2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5" name="组合 104"/>
          <p:cNvGrpSpPr/>
          <p:nvPr/>
        </p:nvGrpSpPr>
        <p:grpSpPr>
          <a:xfrm>
            <a:off x="581025" y="2943225"/>
            <a:ext cx="589915" cy="400050"/>
            <a:chOff x="1020" y="2775"/>
            <a:chExt cx="929" cy="630"/>
          </a:xfrm>
          <a:solidFill>
            <a:schemeClr val="accent3"/>
          </a:solidFill>
        </p:grpSpPr>
        <p:sp>
          <p:nvSpPr>
            <p:cNvPr id="106" name="existing-icon-b1"/>
            <p:cNvSpPr>
              <a:spLocks noGrp="1"/>
            </p:cNvSpPr>
            <p:nvPr/>
          </p:nvSpPr>
          <p:spPr>
            <a:xfrm>
              <a:off x="1020" y="2970"/>
              <a:ext cx="255" cy="435"/>
            </a:xfrm>
            <a:prstGeom prst="rect">
              <a:avLst/>
            </a:prstGeom>
            <a:grpFill/>
            <a:ln w="0">
              <a:solidFill>
                <a:srgbClr val="3E6EA8"/>
              </a:solidFill>
              <a:prstDash val="solid"/>
            </a:ln>
          </p:spPr>
        </p:sp>
        <p:sp>
          <p:nvSpPr>
            <p:cNvPr id="107" name="existing-icon-b2"/>
            <p:cNvSpPr>
              <a:spLocks noGrp="1"/>
            </p:cNvSpPr>
            <p:nvPr/>
          </p:nvSpPr>
          <p:spPr>
            <a:xfrm>
              <a:off x="1320" y="2775"/>
              <a:ext cx="360" cy="630"/>
            </a:xfrm>
            <a:prstGeom prst="rect">
              <a:avLst/>
            </a:prstGeom>
            <a:grpFill/>
            <a:ln w="0">
              <a:solidFill>
                <a:srgbClr val="3E6EA8"/>
              </a:solidFill>
              <a:prstDash val="solid"/>
            </a:ln>
          </p:spPr>
        </p:sp>
        <p:sp>
          <p:nvSpPr>
            <p:cNvPr id="108" name="existing-icon-b3"/>
            <p:cNvSpPr>
              <a:spLocks noGrp="1"/>
            </p:cNvSpPr>
            <p:nvPr/>
          </p:nvSpPr>
          <p:spPr>
            <a:xfrm>
              <a:off x="1725" y="3060"/>
              <a:ext cx="225" cy="345"/>
            </a:xfrm>
            <a:prstGeom prst="rect">
              <a:avLst/>
            </a:prstGeom>
            <a:grpFill/>
            <a:ln w="0">
              <a:solidFill>
                <a:srgbClr val="3E6EA8"/>
              </a:solidFill>
              <a:prstDash val="solid"/>
            </a:ln>
          </p:spPr>
        </p:sp>
        <p:sp>
          <p:nvSpPr>
            <p:cNvPr id="109" name="existing-icon-w0"/>
            <p:cNvSpPr>
              <a:spLocks noGrp="1"/>
            </p:cNvSpPr>
            <p:nvPr/>
          </p:nvSpPr>
          <p:spPr>
            <a:xfrm>
              <a:off x="1395" y="2880"/>
              <a:ext cx="75" cy="75"/>
            </a:xfrm>
            <a:prstGeom prst="rect">
              <a:avLst/>
            </a:prstGeom>
            <a:grpFill/>
            <a:ln w="0">
              <a:solidFill>
                <a:srgbClr val="FFFFFF"/>
              </a:solidFill>
              <a:prstDash val="solid"/>
            </a:ln>
          </p:spPr>
        </p:sp>
        <p:sp>
          <p:nvSpPr>
            <p:cNvPr id="110" name="existing-icon-wx0"/>
            <p:cNvSpPr>
              <a:spLocks noGrp="1"/>
            </p:cNvSpPr>
            <p:nvPr/>
          </p:nvSpPr>
          <p:spPr>
            <a:xfrm>
              <a:off x="1530" y="2880"/>
              <a:ext cx="75" cy="75"/>
            </a:xfrm>
            <a:prstGeom prst="rect">
              <a:avLst/>
            </a:prstGeom>
            <a:grpFill/>
            <a:ln w="0">
              <a:solidFill>
                <a:srgbClr val="FFFFFF"/>
              </a:solidFill>
              <a:prstDash val="solid"/>
            </a:ln>
          </p:spPr>
        </p:sp>
        <p:sp>
          <p:nvSpPr>
            <p:cNvPr id="111" name="existing-icon-w1"/>
            <p:cNvSpPr>
              <a:spLocks noGrp="1"/>
            </p:cNvSpPr>
            <p:nvPr/>
          </p:nvSpPr>
          <p:spPr>
            <a:xfrm>
              <a:off x="1395" y="3030"/>
              <a:ext cx="75" cy="75"/>
            </a:xfrm>
            <a:prstGeom prst="rect">
              <a:avLst/>
            </a:prstGeom>
            <a:grpFill/>
            <a:ln w="0">
              <a:solidFill>
                <a:srgbClr val="FFFFFF"/>
              </a:solidFill>
              <a:prstDash val="solid"/>
            </a:ln>
          </p:spPr>
        </p:sp>
        <p:sp>
          <p:nvSpPr>
            <p:cNvPr id="112" name="existing-icon-wx1"/>
            <p:cNvSpPr>
              <a:spLocks noGrp="1"/>
            </p:cNvSpPr>
            <p:nvPr/>
          </p:nvSpPr>
          <p:spPr>
            <a:xfrm>
              <a:off x="1530" y="3030"/>
              <a:ext cx="75" cy="75"/>
            </a:xfrm>
            <a:prstGeom prst="rect">
              <a:avLst/>
            </a:prstGeom>
            <a:grpFill/>
            <a:ln w="0">
              <a:solidFill>
                <a:srgbClr val="FFFFFF"/>
              </a:solidFill>
              <a:prstDash val="solid"/>
            </a:ln>
          </p:spPr>
        </p:sp>
        <p:sp>
          <p:nvSpPr>
            <p:cNvPr id="113" name="existing-icon-w2"/>
            <p:cNvSpPr>
              <a:spLocks noGrp="1"/>
            </p:cNvSpPr>
            <p:nvPr/>
          </p:nvSpPr>
          <p:spPr>
            <a:xfrm>
              <a:off x="1395" y="3180"/>
              <a:ext cx="75" cy="75"/>
            </a:xfrm>
            <a:prstGeom prst="rect">
              <a:avLst/>
            </a:prstGeom>
            <a:grpFill/>
            <a:ln w="0">
              <a:solidFill>
                <a:srgbClr val="FFFFFF"/>
              </a:solidFill>
              <a:prstDash val="solid"/>
            </a:ln>
          </p:spPr>
        </p:sp>
        <p:sp>
          <p:nvSpPr>
            <p:cNvPr id="114" name="existing-icon-wx2"/>
            <p:cNvSpPr>
              <a:spLocks noGrp="1"/>
            </p:cNvSpPr>
            <p:nvPr/>
          </p:nvSpPr>
          <p:spPr>
            <a:xfrm>
              <a:off x="1530" y="3180"/>
              <a:ext cx="75" cy="75"/>
            </a:xfrm>
            <a:prstGeom prst="rect">
              <a:avLst/>
            </a:prstGeom>
            <a:grpFill/>
            <a:ln w="0">
              <a:solidFill>
                <a:srgbClr val="FFFFFF"/>
              </a:solidFill>
              <a:prstDash val="solid"/>
            </a:ln>
          </p:spPr>
        </p:sp>
      </p:grpSp>
      <p:sp>
        <p:nvSpPr>
          <p:cNvPr id="18" name="route-two-output"/>
          <p:cNvSpPr>
            <a:spLocks noGrp="1"/>
          </p:cNvSpPr>
          <p:nvPr/>
        </p:nvSpPr>
        <p:spPr>
          <a:xfrm>
            <a:off x="6591300" y="3721735"/>
            <a:ext cx="18605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Visualization model</a:t>
            </a:r>
            <a:endParaRPr lang="en-US" sz="1275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下箭头 19"/>
          <p:cNvSpPr/>
          <p:nvPr/>
        </p:nvSpPr>
        <p:spPr>
          <a:xfrm>
            <a:off x="4784090" y="2926715"/>
            <a:ext cx="196215" cy="257810"/>
          </a:xfrm>
          <a:prstGeom prst="downArrow">
            <a:avLst/>
          </a:prstGeom>
          <a:solidFill>
            <a:schemeClr val="tx1">
              <a:alpha val="2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>
            <a:off x="7302500" y="2926715"/>
            <a:ext cx="196215" cy="257810"/>
          </a:xfrm>
          <a:prstGeom prst="downArrow">
            <a:avLst/>
          </a:prstGeom>
          <a:solidFill>
            <a:schemeClr val="tx1">
              <a:alpha val="2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feedback-output"/>
          <p:cNvSpPr>
            <a:spLocks noGrp="1"/>
          </p:cNvSpPr>
          <p:nvPr/>
        </p:nvSpPr>
        <p:spPr>
          <a:xfrm>
            <a:off x="6611620" y="4502150"/>
            <a:ext cx="1924685" cy="508635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1430">
            <a:solidFill>
              <a:srgbClr val="C8D1D9"/>
            </a:solidFill>
            <a:prstDash val="solid"/>
          </a:ln>
        </p:spPr>
        <p:txBody>
          <a:bodyPr anchor="ctr" anchorCtr="0"/>
          <a:p>
            <a:pPr algn="l">
              <a:lnSpc>
                <a:spcPct val="100000"/>
              </a:lnSpc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/>
              <a:t>1.Dual-model </a:t>
            </a:r>
            <a:r>
              <a: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selection</a:t>
            </a:r>
            <a:endParaRPr sz="1350"/>
          </a:p>
        </p:txBody>
      </p:sp>
      <p:pic>
        <p:nvPicPr>
          <p:cNvPr id="70" name="图片 69" descr="3e1795bb9abc22213370e73e6e60a4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0" y="4790440"/>
            <a:ext cx="5786120" cy="33178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1" name="feedback-output"/>
          <p:cNvSpPr>
            <a:spLocks noGrp="1"/>
          </p:cNvSpPr>
          <p:nvPr/>
        </p:nvSpPr>
        <p:spPr>
          <a:xfrm>
            <a:off x="6604635" y="5149850"/>
            <a:ext cx="1924685" cy="508635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1430">
            <a:solidFill>
              <a:srgbClr val="C8D1D9"/>
            </a:solidFill>
            <a:prstDash val="solid"/>
          </a:ln>
        </p:spPr>
        <p:txBody>
          <a:bodyPr anchor="ctr" anchorCtr="0"/>
          <a:p>
            <a:pPr algn="ctr"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t>2.3D geometry view</a:t>
            </a:r>
          </a:p>
        </p:txBody>
      </p:sp>
      <p:sp>
        <p:nvSpPr>
          <p:cNvPr id="72" name="feedback-output"/>
          <p:cNvSpPr>
            <a:spLocks noGrp="1"/>
          </p:cNvSpPr>
          <p:nvPr/>
        </p:nvSpPr>
        <p:spPr>
          <a:xfrm>
            <a:off x="6604635" y="5798185"/>
            <a:ext cx="1924685" cy="508635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1430">
            <a:solidFill>
              <a:srgbClr val="C8D1D9"/>
            </a:solidFill>
            <a:prstDash val="solid"/>
          </a:ln>
        </p:spPr>
        <p:txBody>
          <a:bodyPr anchor="ctr" anchorCtr="0">
            <a:noAutofit/>
          </a:bodyPr>
          <a:p>
            <a:pPr lvl="0" algn="ctr"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>
                <a:sym typeface="+mn-ea"/>
              </a:rPr>
              <a:t>3.Design factors</a:t>
            </a:r>
            <a:endParaRPr>
              <a:sym typeface="+mn-ea"/>
            </a:endParaRPr>
          </a:p>
        </p:txBody>
      </p:sp>
      <p:sp>
        <p:nvSpPr>
          <p:cNvPr id="73" name="feedback-output"/>
          <p:cNvSpPr>
            <a:spLocks noGrp="1"/>
          </p:cNvSpPr>
          <p:nvPr/>
        </p:nvSpPr>
        <p:spPr>
          <a:xfrm>
            <a:off x="6604635" y="6446520"/>
            <a:ext cx="1924685" cy="508635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1430">
            <a:solidFill>
              <a:srgbClr val="C8D1D9"/>
            </a:solidFill>
            <a:prstDash val="solid"/>
          </a:ln>
        </p:spPr>
        <p:txBody>
          <a:bodyPr anchor="ctr" anchorCtr="0">
            <a:noAutofit/>
          </a:bodyPr>
          <a:p>
            <a:pPr lvl="0" algn="ctr"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>
                <a:sym typeface="+mn-ea"/>
              </a:rPr>
              <a:t>4.Epw inputs</a:t>
            </a:r>
            <a:endParaRPr>
              <a:sym typeface="+mn-ea"/>
            </a:endParaRPr>
          </a:p>
        </p:txBody>
      </p:sp>
      <p:sp>
        <p:nvSpPr>
          <p:cNvPr id="74" name="feedback-output"/>
          <p:cNvSpPr>
            <a:spLocks noGrp="1"/>
          </p:cNvSpPr>
          <p:nvPr/>
        </p:nvSpPr>
        <p:spPr>
          <a:xfrm>
            <a:off x="6605270" y="7094220"/>
            <a:ext cx="1924685" cy="508635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1430">
            <a:solidFill>
              <a:srgbClr val="C8D1D9"/>
            </a:solidFill>
            <a:prstDash val="solid"/>
          </a:ln>
        </p:spPr>
        <p:txBody>
          <a:bodyPr anchor="ctr" anchorCtr="0">
            <a:noAutofit/>
          </a:bodyPr>
          <a:p>
            <a:pPr lvl="0" algn="ctr"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>
                <a:sym typeface="+mn-ea"/>
              </a:rPr>
              <a:t>5.Annual performance</a:t>
            </a:r>
            <a:endParaRPr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507615" y="8108315"/>
            <a:ext cx="2091055" cy="349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>
              <a:lnSpc>
                <a:spcPct val="150000"/>
              </a:lnSpc>
              <a:def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Arch-EPVC platform</a:t>
            </a:r>
            <a:endParaRPr lang="en-US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76" name="下箭头 75"/>
          <p:cNvSpPr/>
          <p:nvPr/>
        </p:nvSpPr>
        <p:spPr>
          <a:xfrm>
            <a:off x="809625" y="4286250"/>
            <a:ext cx="196215" cy="424815"/>
          </a:xfrm>
          <a:prstGeom prst="downArrow">
            <a:avLst/>
          </a:prstGeom>
          <a:solidFill>
            <a:schemeClr val="tx1">
              <a:alpha val="2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feedback-output"/>
          <p:cNvSpPr>
            <a:spLocks noGrp="1"/>
          </p:cNvSpPr>
          <p:nvPr/>
        </p:nvSpPr>
        <p:spPr>
          <a:xfrm>
            <a:off x="6604635" y="7741920"/>
            <a:ext cx="1924685" cy="508635"/>
          </a:xfrm>
          <a:prstGeom prst="roundRect">
            <a:avLst>
              <a:gd name="adj" fmla="val 8000"/>
            </a:avLst>
          </a:prstGeom>
          <a:solidFill>
            <a:srgbClr val="F7F9FA"/>
          </a:solidFill>
          <a:ln w="11430">
            <a:solidFill>
              <a:srgbClr val="C8D1D9"/>
            </a:solidFill>
            <a:prstDash val="solid"/>
          </a:ln>
        </p:spPr>
        <p:txBody>
          <a:bodyPr anchor="ctr" anchorCtr="0">
            <a:noAutofit/>
          </a:bodyPr>
          <a:p>
            <a:pPr lvl="0" algn="ctr"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>
                <a:sym typeface="+mn-ea"/>
              </a:rPr>
              <a:t>6.Hourly performance</a:t>
            </a:r>
            <a:endParaRPr>
              <a:sym typeface="+mn-ea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62610" y="5148580"/>
            <a:ext cx="5621020" cy="217805"/>
          </a:xfrm>
          <a:prstGeom prst="rect">
            <a:avLst/>
          </a:prstGeom>
          <a:noFill/>
          <a:ln w="12700" cmpd="sng">
            <a:solidFill>
              <a:srgbClr val="00206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矩形 82"/>
          <p:cNvSpPr/>
          <p:nvPr/>
        </p:nvSpPr>
        <p:spPr>
          <a:xfrm>
            <a:off x="1629410" y="5658485"/>
            <a:ext cx="3128645" cy="1288415"/>
          </a:xfrm>
          <a:prstGeom prst="rect">
            <a:avLst/>
          </a:prstGeom>
          <a:noFill/>
          <a:ln w="12700" cmpd="sng">
            <a:solidFill>
              <a:srgbClr val="00206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矩形 83"/>
          <p:cNvSpPr/>
          <p:nvPr/>
        </p:nvSpPr>
        <p:spPr>
          <a:xfrm>
            <a:off x="1629410" y="7000875"/>
            <a:ext cx="4554855" cy="393700"/>
          </a:xfrm>
          <a:prstGeom prst="rect">
            <a:avLst/>
          </a:prstGeom>
          <a:noFill/>
          <a:ln w="12700" cmpd="sng">
            <a:solidFill>
              <a:srgbClr val="00206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7" name="矩形 96"/>
          <p:cNvSpPr/>
          <p:nvPr/>
        </p:nvSpPr>
        <p:spPr>
          <a:xfrm>
            <a:off x="563245" y="7442200"/>
            <a:ext cx="5623560" cy="581660"/>
          </a:xfrm>
          <a:prstGeom prst="rect">
            <a:avLst/>
          </a:prstGeom>
          <a:noFill/>
          <a:ln w="12700" cmpd="sng">
            <a:solidFill>
              <a:srgbClr val="00206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矩形 97"/>
          <p:cNvSpPr/>
          <p:nvPr/>
        </p:nvSpPr>
        <p:spPr>
          <a:xfrm>
            <a:off x="4871085" y="5438140"/>
            <a:ext cx="1310005" cy="1363345"/>
          </a:xfrm>
          <a:prstGeom prst="rect">
            <a:avLst/>
          </a:prstGeom>
          <a:noFill/>
          <a:ln w="12700" cmpd="sng">
            <a:solidFill>
              <a:srgbClr val="00206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100" name="矩形 99"/>
          <p:cNvSpPr/>
          <p:nvPr/>
        </p:nvSpPr>
        <p:spPr>
          <a:xfrm>
            <a:off x="563245" y="7000875"/>
            <a:ext cx="996315" cy="394335"/>
          </a:xfrm>
          <a:prstGeom prst="rect">
            <a:avLst/>
          </a:prstGeom>
          <a:noFill/>
          <a:ln w="12700" cmpd="sng">
            <a:solidFill>
              <a:srgbClr val="00206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/>
          </a:p>
        </p:txBody>
      </p:sp>
      <p:sp>
        <p:nvSpPr>
          <p:cNvPr id="121" name="文本框 120"/>
          <p:cNvSpPr txBox="1"/>
          <p:nvPr/>
        </p:nvSpPr>
        <p:spPr>
          <a:xfrm>
            <a:off x="5963285" y="5104130"/>
            <a:ext cx="3562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altLang="zh-CN" sz="1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4473575" y="5658485"/>
            <a:ext cx="281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altLang="zh-CN" sz="1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5905500" y="5654040"/>
            <a:ext cx="281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3</a:t>
            </a:r>
            <a:endParaRPr lang="en-US" altLang="zh-CN" sz="1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278255" y="7022465"/>
            <a:ext cx="281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4</a:t>
            </a:r>
            <a:endParaRPr lang="en-US" altLang="zh-CN" sz="1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5891530" y="7022465"/>
            <a:ext cx="281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5</a:t>
            </a:r>
            <a:endParaRPr lang="en-US" altLang="zh-CN" sz="1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563245" y="7454900"/>
            <a:ext cx="281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charset="0"/>
                <a:cs typeface="Times New Roman" panose="02020603050405020304" charset="0"/>
              </a:rPr>
              <a:t>6</a:t>
            </a:r>
            <a:endParaRPr lang="en-US" altLang="zh-CN" sz="1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34" name="肘形连接符 133"/>
          <p:cNvCxnSpPr>
            <a:stCxn id="70" idx="3"/>
            <a:endCxn id="39" idx="1"/>
          </p:cNvCxnSpPr>
          <p:nvPr/>
        </p:nvCxnSpPr>
        <p:spPr>
          <a:xfrm flipV="1">
            <a:off x="6262370" y="4756785"/>
            <a:ext cx="349250" cy="169291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alpha val="53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5" name="肘形连接符 134"/>
          <p:cNvCxnSpPr>
            <a:stCxn id="70" idx="3"/>
            <a:endCxn id="71" idx="1"/>
          </p:cNvCxnSpPr>
          <p:nvPr/>
        </p:nvCxnSpPr>
        <p:spPr>
          <a:xfrm flipV="1">
            <a:off x="6262370" y="5404485"/>
            <a:ext cx="342265" cy="1045210"/>
          </a:xfrm>
          <a:prstGeom prst="bentConnector3">
            <a:avLst>
              <a:gd name="adj1" fmla="val 50093"/>
            </a:avLst>
          </a:prstGeom>
          <a:ln w="12700">
            <a:solidFill>
              <a:schemeClr val="tx1">
                <a:alpha val="53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6" name="肘形连接符 135"/>
          <p:cNvCxnSpPr>
            <a:stCxn id="70" idx="3"/>
            <a:endCxn id="72" idx="1"/>
          </p:cNvCxnSpPr>
          <p:nvPr/>
        </p:nvCxnSpPr>
        <p:spPr>
          <a:xfrm flipV="1">
            <a:off x="6262370" y="6052820"/>
            <a:ext cx="342265" cy="396875"/>
          </a:xfrm>
          <a:prstGeom prst="bentConnector3">
            <a:avLst>
              <a:gd name="adj1" fmla="val 50093"/>
            </a:avLst>
          </a:prstGeom>
          <a:ln w="12700">
            <a:solidFill>
              <a:schemeClr val="tx1">
                <a:alpha val="53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肘形连接符 137"/>
          <p:cNvCxnSpPr>
            <a:stCxn id="70" idx="3"/>
            <a:endCxn id="73" idx="1"/>
          </p:cNvCxnSpPr>
          <p:nvPr/>
        </p:nvCxnSpPr>
        <p:spPr>
          <a:xfrm>
            <a:off x="6262370" y="6449695"/>
            <a:ext cx="342265" cy="251460"/>
          </a:xfrm>
          <a:prstGeom prst="bentConnector3">
            <a:avLst>
              <a:gd name="adj1" fmla="val 50093"/>
            </a:avLst>
          </a:prstGeom>
          <a:ln w="12700">
            <a:solidFill>
              <a:schemeClr val="tx1">
                <a:alpha val="53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0" name="肘形连接符 139"/>
          <p:cNvCxnSpPr>
            <a:stCxn id="70" idx="3"/>
            <a:endCxn id="74" idx="1"/>
          </p:cNvCxnSpPr>
          <p:nvPr/>
        </p:nvCxnSpPr>
        <p:spPr>
          <a:xfrm>
            <a:off x="6262370" y="6449695"/>
            <a:ext cx="342900" cy="89916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alpha val="53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肘形连接符 142"/>
          <p:cNvCxnSpPr>
            <a:stCxn id="70" idx="3"/>
            <a:endCxn id="77" idx="1"/>
          </p:cNvCxnSpPr>
          <p:nvPr/>
        </p:nvCxnSpPr>
        <p:spPr>
          <a:xfrm>
            <a:off x="6262370" y="6449695"/>
            <a:ext cx="342265" cy="1546860"/>
          </a:xfrm>
          <a:prstGeom prst="bentConnector3">
            <a:avLst>
              <a:gd name="adj1" fmla="val 50093"/>
            </a:avLst>
          </a:prstGeom>
          <a:ln w="12700">
            <a:solidFill>
              <a:schemeClr val="tx1">
                <a:alpha val="53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39" name="feedback-output"/>
          <p:cNvSpPr>
            <a:spLocks noGrp="1"/>
          </p:cNvSpPr>
          <p:nvPr/>
        </p:nvSpPr>
        <p:spPr>
          <a:xfrm>
            <a:off x="11329670" y="469900"/>
            <a:ext cx="3366770" cy="889635"/>
          </a:xfrm>
          <a:prstGeom prst="roundRect">
            <a:avLst>
              <a:gd name="adj" fmla="val 8000"/>
            </a:avLst>
          </a:prstGeom>
          <a:solidFill>
            <a:schemeClr val="accent6">
              <a:lumMod val="20000"/>
              <a:lumOff val="80000"/>
              <a:alpha val="38000"/>
            </a:schemeClr>
          </a:solidFill>
          <a:ln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ctr" anchorCtr="0"/>
          <a:p>
            <a:pPr algn="l">
              <a:lnSpc>
                <a:spcPct val="100000"/>
              </a:lnSpc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/>
              <a:t>1.Dual-model </a:t>
            </a:r>
            <a:r>
              <a:rPr sz="240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selection</a:t>
            </a:r>
            <a:endParaRPr sz="2400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1" name="feedback-output"/>
          <p:cNvSpPr>
            <a:spLocks noGrp="1"/>
          </p:cNvSpPr>
          <p:nvPr/>
        </p:nvSpPr>
        <p:spPr>
          <a:xfrm>
            <a:off x="11317605" y="1838325"/>
            <a:ext cx="3366770" cy="889635"/>
          </a:xfrm>
          <a:prstGeom prst="roundRect">
            <a:avLst>
              <a:gd name="adj" fmla="val 8000"/>
            </a:avLst>
          </a:prstGeom>
          <a:solidFill>
            <a:schemeClr val="accent6">
              <a:lumMod val="20000"/>
              <a:lumOff val="80000"/>
              <a:alpha val="38000"/>
            </a:schemeClr>
          </a:solidFill>
          <a:ln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ctr" anchorCtr="0">
            <a:noAutofit/>
          </a:bodyPr>
          <a:p>
            <a:pPr lvl="0" algn="l"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>
                <a:sym typeface="+mn-ea"/>
              </a:rPr>
              <a:t>2.3D geometry view</a:t>
            </a:r>
            <a:endParaRPr sz="2400">
              <a:sym typeface="+mn-ea"/>
            </a:endParaRPr>
          </a:p>
        </p:txBody>
      </p:sp>
      <p:sp>
        <p:nvSpPr>
          <p:cNvPr id="72" name="feedback-output"/>
          <p:cNvSpPr>
            <a:spLocks noGrp="1"/>
          </p:cNvSpPr>
          <p:nvPr/>
        </p:nvSpPr>
        <p:spPr>
          <a:xfrm>
            <a:off x="11317605" y="3217545"/>
            <a:ext cx="3366770" cy="889635"/>
          </a:xfrm>
          <a:prstGeom prst="roundRect">
            <a:avLst>
              <a:gd name="adj" fmla="val 8000"/>
            </a:avLst>
          </a:prstGeom>
          <a:solidFill>
            <a:schemeClr val="accent6">
              <a:lumMod val="20000"/>
              <a:lumOff val="80000"/>
              <a:alpha val="38000"/>
            </a:schemeClr>
          </a:solidFill>
          <a:ln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ctr" anchorCtr="0">
            <a:noAutofit/>
          </a:bodyPr>
          <a:p>
            <a:pPr lvl="0" algn="l"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>
                <a:sym typeface="+mn-ea"/>
              </a:rPr>
              <a:t>3.Design factors</a:t>
            </a:r>
            <a:endParaRPr sz="2400">
              <a:sym typeface="+mn-ea"/>
            </a:endParaRPr>
          </a:p>
        </p:txBody>
      </p:sp>
      <p:sp>
        <p:nvSpPr>
          <p:cNvPr id="73" name="feedback-output"/>
          <p:cNvSpPr>
            <a:spLocks noGrp="1"/>
          </p:cNvSpPr>
          <p:nvPr/>
        </p:nvSpPr>
        <p:spPr>
          <a:xfrm>
            <a:off x="11317605" y="4502150"/>
            <a:ext cx="3366770" cy="889635"/>
          </a:xfrm>
          <a:prstGeom prst="roundRect">
            <a:avLst>
              <a:gd name="adj" fmla="val 8000"/>
            </a:avLst>
          </a:prstGeom>
          <a:solidFill>
            <a:schemeClr val="accent6">
              <a:lumMod val="20000"/>
              <a:lumOff val="80000"/>
              <a:alpha val="38000"/>
            </a:schemeClr>
          </a:solidFill>
          <a:ln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ctr" anchorCtr="0">
            <a:noAutofit/>
          </a:bodyPr>
          <a:p>
            <a:pPr lvl="0" algn="l"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>
                <a:sym typeface="+mn-ea"/>
              </a:rPr>
              <a:t>4.E</a:t>
            </a:r>
            <a:r>
              <a:rPr sz="2400">
                <a:sym typeface="+mn-ea"/>
              </a:rPr>
              <a:t>PW</a:t>
            </a:r>
            <a:r>
              <a:rPr sz="2400">
                <a:sym typeface="+mn-ea"/>
              </a:rPr>
              <a:t> </a:t>
            </a:r>
            <a:r>
              <a:rPr sz="2400">
                <a:sym typeface="+mn-ea"/>
              </a:rPr>
              <a:t>weather </a:t>
            </a:r>
            <a:r>
              <a:rPr sz="2400">
                <a:sym typeface="+mn-ea"/>
              </a:rPr>
              <a:t>inputs</a:t>
            </a:r>
            <a:endParaRPr sz="2400">
              <a:sym typeface="+mn-ea"/>
            </a:endParaRPr>
          </a:p>
        </p:txBody>
      </p:sp>
      <p:sp>
        <p:nvSpPr>
          <p:cNvPr id="74" name="feedback-output"/>
          <p:cNvSpPr>
            <a:spLocks noGrp="1"/>
          </p:cNvSpPr>
          <p:nvPr/>
        </p:nvSpPr>
        <p:spPr>
          <a:xfrm>
            <a:off x="11318240" y="5870575"/>
            <a:ext cx="3366770" cy="889635"/>
          </a:xfrm>
          <a:prstGeom prst="roundRect">
            <a:avLst>
              <a:gd name="adj" fmla="val 8000"/>
            </a:avLst>
          </a:prstGeom>
          <a:solidFill>
            <a:schemeClr val="accent6">
              <a:lumMod val="20000"/>
              <a:lumOff val="80000"/>
              <a:alpha val="38000"/>
            </a:schemeClr>
          </a:solidFill>
          <a:ln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ctr" anchorCtr="0">
            <a:noAutofit/>
          </a:bodyPr>
          <a:p>
            <a:pPr lvl="0" algn="l"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>
                <a:sym typeface="+mn-ea"/>
              </a:rPr>
              <a:t>5.Annual performance</a:t>
            </a:r>
            <a:endParaRPr sz="2400">
              <a:sym typeface="+mn-ea"/>
            </a:endParaRPr>
          </a:p>
        </p:txBody>
      </p:sp>
      <p:sp>
        <p:nvSpPr>
          <p:cNvPr id="77" name="feedback-output"/>
          <p:cNvSpPr>
            <a:spLocks noGrp="1"/>
          </p:cNvSpPr>
          <p:nvPr/>
        </p:nvSpPr>
        <p:spPr>
          <a:xfrm>
            <a:off x="11317605" y="7212330"/>
            <a:ext cx="3366770" cy="889635"/>
          </a:xfrm>
          <a:prstGeom prst="roundRect">
            <a:avLst>
              <a:gd name="adj" fmla="val 8000"/>
            </a:avLst>
          </a:prstGeom>
          <a:solidFill>
            <a:schemeClr val="accent6">
              <a:lumMod val="20000"/>
              <a:lumOff val="80000"/>
              <a:alpha val="38000"/>
            </a:schemeClr>
          </a:solidFill>
          <a:ln w="1143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ctr" anchorCtr="0">
            <a:noAutofit/>
          </a:bodyPr>
          <a:p>
            <a:pPr lvl="0" algn="l">
              <a:buClrTx/>
              <a:buSzTx/>
              <a:buFontTx/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2400">
                <a:sym typeface="+mn-ea"/>
              </a:rPr>
              <a:t>6.Hourly performance</a:t>
            </a:r>
            <a:endParaRPr sz="240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" y="109855"/>
            <a:ext cx="10386695" cy="7992110"/>
          </a:xfrm>
          <a:prstGeom prst="rect">
            <a:avLst/>
          </a:prstGeom>
        </p:spPr>
      </p:pic>
      <p:cxnSp>
        <p:nvCxnSpPr>
          <p:cNvPr id="5" name="肘形连接符 4"/>
          <p:cNvCxnSpPr>
            <a:stCxn id="3" idx="3"/>
            <a:endCxn id="39" idx="1"/>
          </p:cNvCxnSpPr>
          <p:nvPr/>
        </p:nvCxnSpPr>
        <p:spPr>
          <a:xfrm flipV="1">
            <a:off x="10518140" y="915035"/>
            <a:ext cx="811530" cy="3190875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肘形连接符 6"/>
          <p:cNvCxnSpPr>
            <a:stCxn id="3" idx="3"/>
            <a:endCxn id="71" idx="1"/>
          </p:cNvCxnSpPr>
          <p:nvPr/>
        </p:nvCxnSpPr>
        <p:spPr>
          <a:xfrm flipV="1">
            <a:off x="10518140" y="2283460"/>
            <a:ext cx="799465" cy="1822450"/>
          </a:xfrm>
          <a:prstGeom prst="bentConnector3">
            <a:avLst>
              <a:gd name="adj1" fmla="val 50040"/>
            </a:avLst>
          </a:prstGeom>
          <a:ln w="25400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肘形连接符 7"/>
          <p:cNvCxnSpPr>
            <a:stCxn id="3" idx="3"/>
            <a:endCxn id="72" idx="1"/>
          </p:cNvCxnSpPr>
          <p:nvPr/>
        </p:nvCxnSpPr>
        <p:spPr>
          <a:xfrm flipV="1">
            <a:off x="10518140" y="3662680"/>
            <a:ext cx="799465" cy="443230"/>
          </a:xfrm>
          <a:prstGeom prst="bentConnector3">
            <a:avLst>
              <a:gd name="adj1" fmla="val 50040"/>
            </a:avLst>
          </a:prstGeom>
          <a:ln w="25400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肘形连接符 9"/>
          <p:cNvCxnSpPr>
            <a:stCxn id="3" idx="3"/>
            <a:endCxn id="73" idx="1"/>
          </p:cNvCxnSpPr>
          <p:nvPr/>
        </p:nvCxnSpPr>
        <p:spPr>
          <a:xfrm>
            <a:off x="10518140" y="4105910"/>
            <a:ext cx="799465" cy="841375"/>
          </a:xfrm>
          <a:prstGeom prst="bentConnector3">
            <a:avLst>
              <a:gd name="adj1" fmla="val 50040"/>
            </a:avLst>
          </a:prstGeom>
          <a:ln w="25400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肘形连接符 10"/>
          <p:cNvCxnSpPr>
            <a:stCxn id="3" idx="3"/>
            <a:endCxn id="74" idx="1"/>
          </p:cNvCxnSpPr>
          <p:nvPr/>
        </p:nvCxnSpPr>
        <p:spPr>
          <a:xfrm>
            <a:off x="10518140" y="4105910"/>
            <a:ext cx="800100" cy="2209800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肘形连接符 11"/>
          <p:cNvCxnSpPr>
            <a:stCxn id="3" idx="3"/>
            <a:endCxn id="77" idx="1"/>
          </p:cNvCxnSpPr>
          <p:nvPr/>
        </p:nvCxnSpPr>
        <p:spPr>
          <a:xfrm>
            <a:off x="10518140" y="4105910"/>
            <a:ext cx="799465" cy="3551555"/>
          </a:xfrm>
          <a:prstGeom prst="bentConnector3">
            <a:avLst>
              <a:gd name="adj1" fmla="val 50040"/>
            </a:avLst>
          </a:prstGeom>
          <a:ln w="25400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d-merge-built"/>
          <p:cNvSpPr>
            <a:spLocks noGrp="1"/>
          </p:cNvSpPr>
          <p:nvPr/>
        </p:nvSpPr>
        <p:spPr>
          <a:xfrm>
            <a:off x="10568305" y="1275715"/>
            <a:ext cx="533400" cy="114300"/>
          </a:xfrm>
          <a:prstGeom prst="rightArrow">
            <a:avLst/>
          </a:prstGeom>
          <a:solidFill>
            <a:srgbClr val="6F90BA"/>
          </a:solidFill>
          <a:ln w="4763">
            <a:solidFill>
              <a:srgbClr val="6F90BA"/>
            </a:solidFill>
            <a:prstDash val="solid"/>
          </a:ln>
        </p:spPr>
      </p:sp>
      <p:sp>
        <p:nvSpPr>
          <p:cNvPr id="11" name="d-merge-new"/>
          <p:cNvSpPr>
            <a:spLocks noGrp="1"/>
          </p:cNvSpPr>
          <p:nvPr/>
        </p:nvSpPr>
        <p:spPr>
          <a:xfrm>
            <a:off x="10568305" y="2066290"/>
            <a:ext cx="533400" cy="114300"/>
          </a:xfrm>
          <a:prstGeom prst="rightArrow">
            <a:avLst/>
          </a:prstGeom>
          <a:solidFill>
            <a:srgbClr val="75AF87"/>
          </a:solidFill>
          <a:ln w="4763">
            <a:solidFill>
              <a:srgbClr val="75AF87"/>
            </a:solidFill>
            <a:prstDash val="solid"/>
          </a:ln>
        </p:spPr>
      </p:sp>
      <p:sp>
        <p:nvSpPr>
          <p:cNvPr id="67" name="typology"/>
          <p:cNvSpPr>
            <a:spLocks noGrp="1"/>
          </p:cNvSpPr>
          <p:nvPr/>
        </p:nvSpPr>
        <p:spPr>
          <a:xfrm>
            <a:off x="490855" y="913765"/>
            <a:ext cx="2228850" cy="1666875"/>
          </a:xfrm>
          <a:prstGeom prst="roundRect">
            <a:avLst>
              <a:gd name="adj" fmla="val 3429"/>
            </a:avLst>
          </a:prstGeom>
          <a:solidFill>
            <a:srgbClr val="F7F9FA"/>
          </a:solidFill>
          <a:ln w="11430">
            <a:solidFill>
              <a:srgbClr val="C8D1D9"/>
            </a:solidFill>
            <a:prstDash val="solid"/>
          </a:ln>
        </p:spPr>
      </p:sp>
      <p:sp>
        <p:nvSpPr>
          <p:cNvPr id="68" name="typology-title"/>
          <p:cNvSpPr>
            <a:spLocks noGrp="1"/>
          </p:cNvSpPr>
          <p:nvPr/>
        </p:nvSpPr>
        <p:spPr>
          <a:xfrm>
            <a:off x="624205" y="999490"/>
            <a:ext cx="1962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Enclosure typologies</a:t>
            </a:r>
            <a:endParaRPr sz="1425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8" name="typology-list"/>
          <p:cNvSpPr>
            <a:spLocks noGrp="1"/>
          </p:cNvSpPr>
          <p:nvPr/>
        </p:nvSpPr>
        <p:spPr>
          <a:xfrm>
            <a:off x="472440" y="1980565"/>
            <a:ext cx="226504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Detached</a:t>
            </a:r>
            <a:r>
              <a:rPr lang="en-US" sz="105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</a:t>
            </a:r>
            <a:r>
              <a:rPr sz="105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Double-sided</a:t>
            </a:r>
            <a:endParaRPr sz="1050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05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05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Three-sided</a:t>
            </a:r>
            <a:r>
              <a:rPr lang="en-US" sz="105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</a:t>
            </a:r>
            <a:r>
              <a:rPr sz="105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Courtyard</a:t>
            </a:r>
            <a:r>
              <a:rPr lang="en-US" sz="105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</a:t>
            </a:r>
            <a:r>
              <a:rPr sz="105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Integrated</a:t>
            </a:r>
            <a:endParaRPr sz="1050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matching"/>
          <p:cNvSpPr>
            <a:spLocks noGrp="1"/>
          </p:cNvSpPr>
          <p:nvPr/>
        </p:nvSpPr>
        <p:spPr>
          <a:xfrm>
            <a:off x="3176905" y="913765"/>
            <a:ext cx="2085975" cy="1666875"/>
          </a:xfrm>
          <a:prstGeom prst="roundRect">
            <a:avLst>
              <a:gd name="adj" fmla="val 3429"/>
            </a:avLst>
          </a:prstGeom>
          <a:solidFill>
            <a:srgbClr val="EAF1F8"/>
          </a:solidFill>
          <a:ln w="13335">
            <a:solidFill>
              <a:srgbClr val="3E6EA8"/>
            </a:solidFill>
            <a:prstDash val="solid"/>
          </a:ln>
        </p:spPr>
      </p:sp>
      <p:sp>
        <p:nvSpPr>
          <p:cNvPr id="81" name="matching-title"/>
          <p:cNvSpPr>
            <a:spLocks noGrp="1"/>
          </p:cNvSpPr>
          <p:nvPr/>
        </p:nvSpPr>
        <p:spPr>
          <a:xfrm>
            <a:off x="3310255" y="999490"/>
            <a:ext cx="1819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Matched pair</a:t>
            </a:r>
            <a:endParaRPr sz="1425" b="1">
              <a:solidFill>
                <a:srgbClr val="3E6EA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matching-body"/>
          <p:cNvSpPr>
            <a:spLocks noGrp="1"/>
          </p:cNvSpPr>
          <p:nvPr/>
        </p:nvSpPr>
        <p:spPr>
          <a:xfrm>
            <a:off x="3340100" y="1442720"/>
            <a:ext cx="18192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One built school</a:t>
            </a:r>
            <a:endParaRPr sz="1350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</a:t>
            </a:r>
            <a:endParaRPr sz="1350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One new </a:t>
            </a:r>
            <a:r>
              <a:rPr lang="en-US" sz="1350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</a:t>
            </a:r>
            <a:endParaRPr lang="en-US" sz="1350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5" name="built-current"/>
          <p:cNvSpPr>
            <a:spLocks noGrp="1"/>
          </p:cNvSpPr>
          <p:nvPr/>
        </p:nvSpPr>
        <p:spPr>
          <a:xfrm>
            <a:off x="5681980" y="913765"/>
            <a:ext cx="2362200" cy="571500"/>
          </a:xfrm>
          <a:prstGeom prst="roundRect">
            <a:avLst>
              <a:gd name="adj" fmla="val 8333"/>
            </a:avLst>
          </a:prstGeom>
          <a:solidFill>
            <a:srgbClr val="EAF1F8"/>
          </a:solidFill>
          <a:ln w="12383">
            <a:solidFill>
              <a:srgbClr val="3E6EA8"/>
            </a:solidFill>
            <a:prstDash val="solid"/>
          </a:ln>
        </p:spPr>
      </p:sp>
      <p:sp>
        <p:nvSpPr>
          <p:cNvPr id="86" name="built-current-text"/>
          <p:cNvSpPr>
            <a:spLocks noGrp="1"/>
          </p:cNvSpPr>
          <p:nvPr/>
        </p:nvSpPr>
        <p:spPr>
          <a:xfrm>
            <a:off x="5815330" y="961390"/>
            <a:ext cx="2095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Built school</a:t>
            </a:r>
            <a:r>
              <a:rPr lang="en-US"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c</a:t>
            </a:r>
            <a:r>
              <a:rPr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urrent state</a:t>
            </a:r>
            <a:endParaRPr sz="1275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7" name="built-improved"/>
          <p:cNvSpPr>
            <a:spLocks noGrp="1"/>
          </p:cNvSpPr>
          <p:nvPr/>
        </p:nvSpPr>
        <p:spPr>
          <a:xfrm>
            <a:off x="8434705" y="913765"/>
            <a:ext cx="2133600" cy="571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383">
            <a:solidFill>
              <a:srgbClr val="3E6EA8"/>
            </a:solidFill>
            <a:prstDash val="solid"/>
          </a:ln>
        </p:spPr>
      </p:sp>
      <p:sp>
        <p:nvSpPr>
          <p:cNvPr id="88" name="built-improved-text"/>
          <p:cNvSpPr>
            <a:spLocks noGrp="1"/>
          </p:cNvSpPr>
          <p:nvPr/>
        </p:nvSpPr>
        <p:spPr>
          <a:xfrm>
            <a:off x="8568055" y="999490"/>
            <a:ext cx="18669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75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Existing school r</a:t>
            </a:r>
            <a:r>
              <a:rPr sz="1275" b="1">
                <a:solidFill>
                  <a:srgbClr val="3E6EA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etrofit</a:t>
            </a:r>
            <a:endParaRPr lang="en-US" sz="1275" b="1">
              <a:solidFill>
                <a:srgbClr val="3E6EA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9" name="new-current"/>
          <p:cNvSpPr>
            <a:spLocks noGrp="1"/>
          </p:cNvSpPr>
          <p:nvPr/>
        </p:nvSpPr>
        <p:spPr>
          <a:xfrm>
            <a:off x="5681345" y="2018665"/>
            <a:ext cx="2372360" cy="571500"/>
          </a:xfrm>
          <a:prstGeom prst="roundRect">
            <a:avLst>
              <a:gd name="adj" fmla="val 8333"/>
            </a:avLst>
          </a:prstGeom>
          <a:solidFill>
            <a:srgbClr val="EAF5ED"/>
          </a:solidFill>
          <a:ln w="12383">
            <a:solidFill>
              <a:srgbClr val="4B9968"/>
            </a:solidFill>
            <a:prstDash val="solid"/>
          </a:ln>
        </p:spPr>
      </p:sp>
      <p:sp>
        <p:nvSpPr>
          <p:cNvPr id="90" name="new-current-text"/>
          <p:cNvSpPr>
            <a:spLocks noGrp="1"/>
          </p:cNvSpPr>
          <p:nvPr/>
        </p:nvSpPr>
        <p:spPr>
          <a:xfrm>
            <a:off x="5755640" y="2066290"/>
            <a:ext cx="225361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New design</a:t>
            </a:r>
            <a:r>
              <a:rPr lang="en-US"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i</a:t>
            </a:r>
            <a:r>
              <a:rPr sz="127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nitial proposal</a:t>
            </a:r>
            <a:endParaRPr sz="1275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1" name="new-improved"/>
          <p:cNvSpPr>
            <a:spLocks noGrp="1"/>
          </p:cNvSpPr>
          <p:nvPr/>
        </p:nvSpPr>
        <p:spPr>
          <a:xfrm>
            <a:off x="8425180" y="2018665"/>
            <a:ext cx="2143125" cy="571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383">
            <a:solidFill>
              <a:srgbClr val="4B9968"/>
            </a:solidFill>
            <a:prstDash val="solid"/>
          </a:ln>
        </p:spPr>
      </p:sp>
      <p:sp>
        <p:nvSpPr>
          <p:cNvPr id="92" name="new-improved-text"/>
          <p:cNvSpPr>
            <a:spLocks noGrp="1"/>
          </p:cNvSpPr>
          <p:nvPr/>
        </p:nvSpPr>
        <p:spPr>
          <a:xfrm>
            <a:off x="8559800" y="2104390"/>
            <a:ext cx="187515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4B99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lang="en-US" sz="1275" b="1">
                <a:solidFill>
                  <a:srgbClr val="4B99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lang="en-US" sz="1275" b="1">
                <a:solidFill>
                  <a:srgbClr val="4B996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ew school design</a:t>
            </a:r>
            <a:endParaRPr lang="en-US" sz="1275" b="1">
              <a:solidFill>
                <a:srgbClr val="4B9968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3" name="comparison"/>
          <p:cNvSpPr>
            <a:spLocks noGrp="1"/>
          </p:cNvSpPr>
          <p:nvPr/>
        </p:nvSpPr>
        <p:spPr>
          <a:xfrm>
            <a:off x="11000105" y="913765"/>
            <a:ext cx="3619500" cy="1721485"/>
          </a:xfrm>
          <a:prstGeom prst="roundRect">
            <a:avLst>
              <a:gd name="adj" fmla="val 3429"/>
            </a:avLst>
          </a:prstGeom>
          <a:solidFill>
            <a:srgbClr val="E8F4F2"/>
          </a:solidFill>
          <a:ln w="13335">
            <a:solidFill>
              <a:srgbClr val="388B82"/>
            </a:solidFill>
            <a:prstDash val="solid"/>
          </a:ln>
        </p:spPr>
      </p:sp>
      <p:sp>
        <p:nvSpPr>
          <p:cNvPr id="94" name="comparison-title"/>
          <p:cNvSpPr>
            <a:spLocks noGrp="1"/>
          </p:cNvSpPr>
          <p:nvPr/>
        </p:nvSpPr>
        <p:spPr>
          <a:xfrm>
            <a:off x="11162030" y="999490"/>
            <a:ext cx="32956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388B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1">
                <a:solidFill>
                  <a:srgbClr val="388B8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Paired performance comparison</a:t>
            </a:r>
            <a:endParaRPr sz="1425" b="1">
              <a:solidFill>
                <a:srgbClr val="388B8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5" name="comparison-metrics"/>
          <p:cNvSpPr>
            <a:spLocks noGrp="1"/>
          </p:cNvSpPr>
          <p:nvPr/>
        </p:nvSpPr>
        <p:spPr>
          <a:xfrm>
            <a:off x="11228705" y="1437640"/>
            <a:ext cx="316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1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EUI ↓     CEI ↓     Epv ↑</a:t>
            </a:r>
            <a:endParaRPr sz="1725" b="1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6" name="comparison-body"/>
          <p:cNvSpPr>
            <a:spLocks noGrp="1"/>
          </p:cNvSpPr>
          <p:nvPr/>
        </p:nvSpPr>
        <p:spPr>
          <a:xfrm>
            <a:off x="11228705" y="1946910"/>
            <a:ext cx="31623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Annual improvement + hourly robustness</a:t>
            </a:r>
            <a:endParaRPr sz="1200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def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200" b="0">
                <a:solidFill>
                  <a:srgbClr val="17212B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Rapid evaluation and scenario diagnosis</a:t>
            </a:r>
            <a:endParaRPr sz="1200" b="0">
              <a:solidFill>
                <a:srgbClr val="17212B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17" name="图片 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555" y="1390015"/>
            <a:ext cx="982345" cy="614680"/>
          </a:xfrm>
          <a:prstGeom prst="rect">
            <a:avLst/>
          </a:prstGeom>
        </p:spPr>
      </p:pic>
      <p:cxnSp>
        <p:nvCxnSpPr>
          <p:cNvPr id="119" name="肘形连接符 118"/>
          <p:cNvCxnSpPr>
            <a:stCxn id="80" idx="3"/>
            <a:endCxn id="85" idx="1"/>
          </p:cNvCxnSpPr>
          <p:nvPr/>
        </p:nvCxnSpPr>
        <p:spPr>
          <a:xfrm flipV="1">
            <a:off x="5262880" y="1199515"/>
            <a:ext cx="419100" cy="54800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肘形连接符 122"/>
          <p:cNvCxnSpPr>
            <a:stCxn id="80" idx="3"/>
            <a:endCxn id="89" idx="1"/>
          </p:cNvCxnSpPr>
          <p:nvPr/>
        </p:nvCxnSpPr>
        <p:spPr>
          <a:xfrm>
            <a:off x="5262880" y="1747520"/>
            <a:ext cx="418465" cy="556895"/>
          </a:xfrm>
          <a:prstGeom prst="bentConnector3">
            <a:avLst>
              <a:gd name="adj1" fmla="val 5007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4" name="直接箭头连接符 123"/>
          <p:cNvCxnSpPr>
            <a:stCxn id="85" idx="3"/>
            <a:endCxn id="87" idx="1"/>
          </p:cNvCxnSpPr>
          <p:nvPr/>
        </p:nvCxnSpPr>
        <p:spPr>
          <a:xfrm>
            <a:off x="8044180" y="1199515"/>
            <a:ext cx="3905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>
            <a:stCxn id="89" idx="3"/>
            <a:endCxn id="91" idx="1"/>
          </p:cNvCxnSpPr>
          <p:nvPr/>
        </p:nvCxnSpPr>
        <p:spPr>
          <a:xfrm>
            <a:off x="8053705" y="2304415"/>
            <a:ext cx="3714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9" name="图片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900" y="1409065"/>
            <a:ext cx="1005205" cy="604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1256</Words>
  <Application>WPS 演示</Application>
  <PresentationFormat>Converted Presentation</PresentationFormat>
  <Paragraphs>112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Times New Roman</vt:lpstr>
      <vt:lpstr>Times New Roman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安静</cp:lastModifiedBy>
  <cp:revision>11</cp:revision>
  <dcterms:created xsi:type="dcterms:W3CDTF">2026-08-31T02:09:00Z</dcterms:created>
  <dcterms:modified xsi:type="dcterms:W3CDTF">2026-09-02T06:21:39Z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A9CFD1E797784749B3144CF935C5D3FC_13</vt:lpwstr>
  </property>
</Properties>
</file>